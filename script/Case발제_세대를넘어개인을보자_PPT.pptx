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팀장의 탄생  |  2차수 Case Discussion  |  2026.3.3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세대를 넘어,</a:t>
            </a:r>
            <a:endParaRPr lang="en-US" sz="4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개인을 보자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91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세대론 대신 '동기 조건'으로 팀원을 이해하는 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840480"/>
            <a:ext cx="2743200" cy="0"/>
          </a:xfrm>
          <a:prstGeom prst="line">
            <a:avLst/>
          </a:prstGeom>
          <a:noFill/>
          <a:ln w="12700">
            <a:solidFill>
              <a:srgbClr val="4A5A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0233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발제자: 용수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7788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참고도서: "나는 (   ) 팀장이다"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292608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411480" cy="411480"/>
          </a:xfrm>
          <a:prstGeom prst="ellipse">
            <a:avLst/>
          </a:prstGeom>
          <a:solidFill>
            <a:srgbClr val="2E5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274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이건 세대 특성인가, 사람 특성인가?</a:t>
            </a:r>
            <a:endParaRPr lang="en-US" sz="2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39319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5544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책이 말하는 'MZ 특성'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반응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09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워라밸 중시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저도 중요합니다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인정·목표 지향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저도 그렇습니다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수평적 소통 선호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저도 선호합니다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일의 의미 중시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저도 마찬가지입니다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2468880"/>
            <a:ext cx="3931920" cy="50292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24688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1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 계신 분 중 이 4가지에 해당 안 되는 분?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846320" y="960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에피소드 1 핵심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846320" y="1371600"/>
            <a:ext cx="3840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1371600"/>
            <a:ext cx="64008" cy="155448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12" name="Text 9"/>
          <p:cNvSpPr/>
          <p:nvPr/>
        </p:nvSpPr>
        <p:spPr>
          <a:xfrm>
            <a:off x="5120640" y="14630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세대 문제가 아니라,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기대치 합의가 있었느냐의 문제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A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데드라인이 합의되었는가?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A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완료 기준이 명확했는가?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A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수정 범위가 구체적이었는가?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291840"/>
            <a:ext cx="8229600" cy="82296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32918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1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데이터: </a:t>
            </a:r>
            <a:pPr indent="0" marL="0">
              <a:buNone/>
            </a:pPr>
            <a:r>
              <a:rPr lang="en-US" sz="1200" dirty="0">
                <a:solidFill>
                  <a:srgbClr val="CCDD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'중요 업무라면 업무시간 외 연락 가능' — 전체 65%,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20대도 60%</a:t>
            </a:r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(한국리서치, 2023)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1/5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411480" cy="411480"/>
          </a:xfrm>
          <a:prstGeom prst="ellipse">
            <a:avLst/>
          </a:prstGeom>
          <a:solidFill>
            <a:srgbClr val="2E5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274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세대 차이는 얼마나 심각한가?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60120"/>
            <a:ext cx="64008" cy="1188720"/>
          </a:xfrm>
          <a:prstGeom prst="rect">
            <a:avLst/>
          </a:prstGeom>
          <a:solidFill>
            <a:srgbClr val="E8913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972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051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체감 74%  →  실제 부정적 영향 23%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97280" y="1417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느끼는 것 ≠ 실제 문제가 되는 것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97280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5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50대: 체감 82% / 부정적 16% (가장 낮음)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A85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20대: 체감 61% / 부정적 32% (가장 높음)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2331720"/>
            <a:ext cx="39319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2331720"/>
            <a:ext cx="64008" cy="73152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2377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직장 만족감 1위 </a:t>
            </a:r>
            <a:pPr indent="0" marL="0">
              <a:buNone/>
            </a:pPr>
            <a:r>
              <a:rPr lang="en-US" sz="1100" dirty="0">
                <a:solidFill>
                  <a:srgbClr val="5A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(전 세대 공통)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85800" y="2651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"매달 월급을 받을 때" — 60%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846320" y="960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대안: 자기결정이론(SDT)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846320" y="1371600"/>
            <a:ext cx="3840480" cy="502920"/>
          </a:xfrm>
          <a:prstGeom prst="rect">
            <a:avLst/>
          </a:prstGeom>
          <a:solidFill>
            <a:srgbClr val="E8EFF7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0" y="13716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5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❝ 어떻게 동기를 부여할까? ❞ → ❝ 스스로 동기를 부여할 조건은? ❞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846320" y="2057400"/>
            <a:ext cx="38404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846320" y="2057400"/>
            <a:ext cx="64008" cy="658368"/>
          </a:xfrm>
          <a:prstGeom prst="rect">
            <a:avLst/>
          </a:prstGeom>
          <a:solidFill>
            <a:srgbClr val="2B8A6F"/>
          </a:solidFill>
          <a:ln/>
        </p:spPr>
      </p:sp>
      <p:sp>
        <p:nvSpPr>
          <p:cNvPr id="21" name="Text 18"/>
          <p:cNvSpPr/>
          <p:nvPr/>
        </p:nvSpPr>
        <p:spPr>
          <a:xfrm>
            <a:off x="5074920" y="209397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8A6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자율성</a:t>
            </a:r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Autonomy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074920" y="23317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How는 팀원에게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What/When은 함께 합의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846320" y="2807208"/>
            <a:ext cx="38404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846320" y="2807208"/>
            <a:ext cx="64008" cy="658368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25" name="Text 22"/>
          <p:cNvSpPr/>
          <p:nvPr/>
        </p:nvSpPr>
        <p:spPr>
          <a:xfrm>
            <a:off x="5074920" y="284378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유능감</a:t>
            </a:r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Competence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074920" y="30815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구체적 피드백 +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기준(Done) 합의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846320" y="3557016"/>
            <a:ext cx="384048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846320" y="3557016"/>
            <a:ext cx="64008" cy="658368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29" name="Text 26"/>
          <p:cNvSpPr/>
          <p:nvPr/>
        </p:nvSpPr>
        <p:spPr>
          <a:xfrm>
            <a:off x="5074920" y="35935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C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관계성</a:t>
            </a:r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Relatedness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074920" y="383133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경청 · 관심 · 1on1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심리적 안전감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32" name="Text 29"/>
          <p:cNvSpPr/>
          <p:nvPr/>
        </p:nvSpPr>
        <p:spPr>
          <a:xfrm>
            <a:off x="731520" y="43434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세대 프레임은 '가설'로는 유용. 하지만 개인에게 '낙인'으로 쓰면 위험.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2/5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411480" cy="411480"/>
          </a:xfrm>
          <a:prstGeom prst="ellipse">
            <a:avLst/>
          </a:prstGeom>
          <a:solidFill>
            <a:srgbClr val="2E5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274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경험, 그리고 내일부터 할 수 있는 것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14400"/>
            <a:ext cx="3931920" cy="457200"/>
          </a:xfrm>
          <a:prstGeom prst="rect">
            <a:avLst/>
          </a:prstGeom>
          <a:solidFill>
            <a:srgbClr val="1E2A4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6012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914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40대, 그러나 6개월차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14630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물류 12년 경력. 세대론대로면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'경험 많은 시니어 리더'여야 합니다.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하지만 이 조직에서는 6개월차.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세대 프레임으로 설명할 수 없는 상황.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E5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저도 지금 자율성·유능감·관계성을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E5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쌓아가는 중입니다.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84632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카드 3장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846320" y="1325880"/>
            <a:ext cx="3840480" cy="68580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46320" y="1325880"/>
            <a:ext cx="64008" cy="685800"/>
          </a:xfrm>
          <a:prstGeom prst="rect">
            <a:avLst/>
          </a:prstGeom>
          <a:solidFill>
            <a:srgbClr val="2B8A6F"/>
          </a:solidFill>
          <a:ln/>
        </p:spPr>
      </p:sp>
      <p:sp>
        <p:nvSpPr>
          <p:cNvPr id="14" name="Text 11"/>
          <p:cNvSpPr/>
          <p:nvPr/>
        </p:nvSpPr>
        <p:spPr>
          <a:xfrm>
            <a:off x="5074920" y="1344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8A6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🎯 자율성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00800" y="13258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How는 팀원에게,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What·When은 함께 합의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846320" y="2103120"/>
            <a:ext cx="3840480" cy="68580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846320" y="2103120"/>
            <a:ext cx="64008" cy="68580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18" name="Text 15"/>
          <p:cNvSpPr/>
          <p:nvPr/>
        </p:nvSpPr>
        <p:spPr>
          <a:xfrm>
            <a:off x="5074920" y="21214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📋 유능감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00800" y="21031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기준(Done) + 구체적 피드백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다음 행동 제시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846320" y="2880360"/>
            <a:ext cx="3840480" cy="68580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846320" y="2880360"/>
            <a:ext cx="64008" cy="685800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22" name="Text 19"/>
          <p:cNvSpPr/>
          <p:nvPr/>
        </p:nvSpPr>
        <p:spPr>
          <a:xfrm>
            <a:off x="5074920" y="2898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C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🤝 관계성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400800" y="28803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 · 경청 · 1on1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팀원의 맥락 파악하기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846320" y="3703320"/>
            <a:ext cx="3840480" cy="45720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5" name="Text 22"/>
          <p:cNvSpPr/>
          <p:nvPr/>
        </p:nvSpPr>
        <p:spPr>
          <a:xfrm>
            <a:off x="5029200" y="3703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Gallup: 주간 의미 있는 대화(체크인)가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5A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몰입·성과·이직 방지에 가장 큰 영향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27" name="Text 24"/>
          <p:cNvSpPr/>
          <p:nvPr/>
        </p:nvSpPr>
        <p:spPr>
          <a:xfrm>
            <a:off x="731520" y="42976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세대 라벨을 붙이는 순간 개인이 안 보입니다.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3/5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913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74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같이 이야기해봅시다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1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Q1. 에피소드 1 — 여러분이 팀장이라면?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4572000"/>
                <a:gridCol w="29260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선택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팀장의 행동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SDT 연결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6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91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DD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오늘 수정까지 요청 (리스크 최소화)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DD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유능감 우선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91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DD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내일 아침 재정렬 (관계 우선)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DD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자율성 + 관계성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91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DD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핵심 1개만 오늘 (타협점)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CDDE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자율성 + 유능감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2880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1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Q2. 세대 프레임 검증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457200" y="3200400"/>
            <a:ext cx="3931920" cy="777240"/>
          </a:xfrm>
          <a:prstGeom prst="rect">
            <a:avLst/>
          </a:prstGeom>
          <a:solidFill>
            <a:srgbClr val="2A3A5A"/>
          </a:solidFill>
          <a:ln/>
        </p:spPr>
      </p:sp>
      <p:sp>
        <p:nvSpPr>
          <p:cNvPr id="9" name="Text 5"/>
          <p:cNvSpPr/>
          <p:nvPr/>
        </p:nvSpPr>
        <p:spPr>
          <a:xfrm>
            <a:off x="640080" y="32461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여러분 팀에서 '세대 차이'라고 느꼈던 순간이, 실은 경험 수준이나 소통 방식의 차이는 아니었나요?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846320" y="2880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1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Q3. 실행 연결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846320" y="3200400"/>
            <a:ext cx="3840480" cy="777240"/>
          </a:xfrm>
          <a:prstGeom prst="rect">
            <a:avLst/>
          </a:prstGeom>
          <a:solidFill>
            <a:srgbClr val="2A3A5A"/>
          </a:solidFill>
          <a:ln/>
        </p:spPr>
      </p:sp>
      <p:sp>
        <p:nvSpPr>
          <p:cNvPr id="12" name="Text 8"/>
          <p:cNvSpPr/>
          <p:nvPr/>
        </p:nvSpPr>
        <p:spPr>
          <a:xfrm>
            <a:off x="5029200" y="32461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 한 명을 떠올려 보세요.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가장 부족한 게 자율성? 유능감? 관계성?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내일부터 뭘 할 수 있을까요?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4297680"/>
            <a:ext cx="8229600" cy="0"/>
          </a:xfrm>
          <a:prstGeom prst="line">
            <a:avLst/>
          </a:prstGeom>
          <a:noFill/>
          <a:ln w="6350">
            <a:solidFill>
              <a:srgbClr val="4A5A7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정답은 없습니다. 중요한 건 — 내 선택이 팀원의 어떤 욕구를 채워주고, 어떤 욕구를 건드리는지 인식하는 것.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5/5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세대를 넘어, 개인을 보자</dc:title>
  <dc:subject>PptxGenJS Presentation</dc:subject>
  <dc:creator>용수</dc:creator>
  <cp:lastModifiedBy>용수</cp:lastModifiedBy>
  <cp:revision>1</cp:revision>
  <dcterms:created xsi:type="dcterms:W3CDTF">2026-03-02T07:05:40Z</dcterms:created>
  <dcterms:modified xsi:type="dcterms:W3CDTF">2026-03-02T07:05:40Z</dcterms:modified>
</cp:coreProperties>
</file>